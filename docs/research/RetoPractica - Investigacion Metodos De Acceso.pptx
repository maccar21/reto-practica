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9" r:id="rId3"/>
    <p:sldId id="261" r:id="rId4"/>
    <p:sldId id="260" r:id="rId5"/>
    <p:sldId id="262" r:id="rId6"/>
    <p:sldId id="257" r:id="rId7"/>
    <p:sldId id="258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B75A31-B5BE-54E0-0FE1-4AB24C253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63EBF2-7143-4EDC-D168-F9DF7F6AE1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36B591-F430-128A-4759-45EA3A95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C27F-945C-458E-9BE5-A1270440B0DE}" type="datetimeFigureOut">
              <a:rPr lang="es-419" smtClean="0"/>
              <a:t>25/3/2026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A3BA1B-9D1E-D41A-BD85-929D47D64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52DE4-0FD1-204A-A0E5-7A275966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EAD6-D7AF-4426-AA30-6ADF93E330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7458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6F6007-A4EE-996F-3556-9A1956259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31B687-89FF-3FA3-F828-8F6C445AD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0D54A0-F491-B678-8914-DBA125BE9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C27F-945C-458E-9BE5-A1270440B0DE}" type="datetimeFigureOut">
              <a:rPr lang="es-419" smtClean="0"/>
              <a:t>25/3/2026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95BBF4E-4BD3-1E9E-3D4F-AA826FA9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F5FD13-32E0-DB39-85DB-91E74AC93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EAD6-D7AF-4426-AA30-6ADF93E330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7513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A32D6D-5111-64E0-E55D-88CB27992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411A28-E3E7-5E34-7F3C-1161C2C0D2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0C471A-4CE7-BBFB-104A-E4993F8A9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C27F-945C-458E-9BE5-A1270440B0DE}" type="datetimeFigureOut">
              <a:rPr lang="es-419" smtClean="0"/>
              <a:t>25/3/2026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89247C5-24D5-2449-867B-BEA956D7C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22EDCBF-8596-508A-DA13-4C29ABEC8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EAD6-D7AF-4426-AA30-6ADF93E330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08863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5EA04-A265-045C-5F3C-AC1787FA8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8F11C39-12D6-1862-D571-EA7C0AAD75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D906767-4F7B-A89E-88C4-010CC5EDE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D17FDB3-F7A4-07B9-08F1-D711D8043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C27F-945C-458E-9BE5-A1270440B0DE}" type="datetimeFigureOut">
              <a:rPr lang="es-419" smtClean="0"/>
              <a:t>25/3/2026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7CEFBE1-D3D9-4495-48ED-70144D7D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5E681C-48DA-FA73-728A-3C4A845DF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EAD6-D7AF-4426-AA30-6ADF93E330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56675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5E538-0DE8-EE0F-35CB-12AA9EA74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A1D58A-E5E3-8BBA-87B8-20B5A1492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B185A5-6E70-41B4-9BCB-1913C16FA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5E45458-3F40-D695-7AB9-F3B2E333CB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ADF5168-0AD6-7F56-4853-EEFC99A6E7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291CC23-CE0E-05DB-6A8E-697E7545C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C27F-945C-458E-9BE5-A1270440B0DE}" type="datetimeFigureOut">
              <a:rPr lang="es-419" smtClean="0"/>
              <a:t>25/3/2026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52258AE-9900-A036-5B54-3B9785FEA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7202E7B-27A6-F6AC-1A8F-64E174F92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EAD6-D7AF-4426-AA30-6ADF93E330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56018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404892-1F58-C917-0881-B6C071263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6474FEB-6C0C-EF71-FD67-C625FC44D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C27F-945C-458E-9BE5-A1270440B0DE}" type="datetimeFigureOut">
              <a:rPr lang="es-419" smtClean="0"/>
              <a:t>25/3/2026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B92889B-B9CD-F4A9-6CCD-0B677A11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6134140-87F1-B8D2-C212-DCEDD5748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EAD6-D7AF-4426-AA30-6ADF93E330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809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3914FAF-E3E6-FA1F-9163-12AC90D91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C27F-945C-458E-9BE5-A1270440B0DE}" type="datetimeFigureOut">
              <a:rPr lang="es-419" smtClean="0"/>
              <a:t>25/3/2026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E332EB3-56E1-D667-1711-1D1E5D3986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690FDAF-8CF4-F2B7-F3FA-C5375B0A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EAD6-D7AF-4426-AA30-6ADF93E330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266514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77A11-D269-7C0E-A33F-13CEEB5DB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D8EA9AB-51BA-0860-D616-C5FE5032C1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429052-882A-3FFC-9B75-E89BC7C804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C830404-2828-466E-E687-1F652FDA4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C27F-945C-458E-9BE5-A1270440B0DE}" type="datetimeFigureOut">
              <a:rPr lang="es-419" smtClean="0"/>
              <a:t>25/3/2026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ADCE79-E833-F7BC-2A70-CC09A075E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8B1CE20-6A66-0A61-2CB2-A7196974C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EAD6-D7AF-4426-AA30-6ADF93E330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503029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CB8650-B7BF-5FBC-216D-1190F0353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EEBFB2A-92A2-C8AD-EBF8-B1B029D593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EF0DF2-B12B-9E02-8E9C-FCDA6505E6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BDF700-BBBE-BCAC-54D6-4A8791088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C27F-945C-458E-9BE5-A1270440B0DE}" type="datetimeFigureOut">
              <a:rPr lang="es-419" smtClean="0"/>
              <a:t>25/3/2026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1BDA47C-E1F0-0CF1-91F0-1C709FD03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AB2D96-5DD2-7361-326A-707E2AEE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EAD6-D7AF-4426-AA30-6ADF93E330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23160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F3534F-2616-1D57-C39E-7EFC00E95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3F280E6-5444-E792-9E9B-51DB976FDF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D65746-F165-B871-A9E3-BF52EDFA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C27F-945C-458E-9BE5-A1270440B0DE}" type="datetimeFigureOut">
              <a:rPr lang="es-419" smtClean="0"/>
              <a:t>25/3/2026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C0047F-869C-BDDE-64BA-E359F2A73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28C30DD-5BC7-DDC9-8813-7338F98EF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EAD6-D7AF-4426-AA30-6ADF93E330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60829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22D98EA-C3AB-4817-8602-7D967473BC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8D90B99-0B0F-8714-69AF-5CAB0745CD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8BC804-C216-10B4-8F0A-52719E35A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A1C27F-945C-458E-9BE5-A1270440B0DE}" type="datetimeFigureOut">
              <a:rPr lang="es-419" smtClean="0"/>
              <a:t>25/3/2026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03F42B2-52A2-9E1C-CB35-21184B000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53AED1-658F-4CFB-3164-E1EB90C7D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9EAD6-D7AF-4426-AA30-6ADF93E330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930222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6362F4DC-0375-06CD-B945-397379D73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BA2E9B-5CA3-14B8-3821-2EE7D2200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BE46B1-EDAA-F908-0979-06D13392F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A1C27F-945C-458E-9BE5-A1270440B0DE}" type="datetimeFigureOut">
              <a:rPr lang="es-419" smtClean="0"/>
              <a:t>25/3/2026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B4AC7CB-6CDD-A8A6-CC59-0E7671174A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AB063C-E8B1-AC6C-2FF7-CECBB50926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9EAD6-D7AF-4426-AA30-6ADF93E330D0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47499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26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803713-C3E0-310C-2E9B-9B2309E053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0908" y="1220919"/>
            <a:ext cx="5425781" cy="2387600"/>
          </a:xfrm>
        </p:spPr>
        <p:txBody>
          <a:bodyPr>
            <a:normAutofit/>
          </a:bodyPr>
          <a:lstStyle/>
          <a:p>
            <a:pPr algn="l"/>
            <a:r>
              <a:rPr lang="es-419" sz="5600" dirty="0"/>
              <a:t>Métodos de control de acceso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6DC6CD-B6CD-6CED-8717-3AC7D6447C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0908" y="3710426"/>
            <a:ext cx="5425781" cy="1655762"/>
          </a:xfrm>
        </p:spPr>
        <p:txBody>
          <a:bodyPr>
            <a:normAutofit/>
          </a:bodyPr>
          <a:lstStyle/>
          <a:p>
            <a:pPr algn="l"/>
            <a:r>
              <a:rPr lang="es-419" dirty="0"/>
              <a:t>Mateo Cardona Arias</a:t>
            </a:r>
          </a:p>
        </p:txBody>
      </p:sp>
      <p:sp>
        <p:nvSpPr>
          <p:cNvPr id="42" name="Freeform: Shape 28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Oval 30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Block Arc 32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02394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6" name="Freeform: Shape 34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47" name="Straight Connector 36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6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5D2B9CA-9931-CD9F-6B1B-C7E5448E6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278" y="1233241"/>
            <a:ext cx="3240506" cy="4064628"/>
          </a:xfrm>
        </p:spPr>
        <p:txBody>
          <a:bodyPr>
            <a:normAutofit/>
          </a:bodyPr>
          <a:lstStyle/>
          <a:p>
            <a:r>
              <a:rPr lang="es-419" dirty="0">
                <a:solidFill>
                  <a:srgbClr val="FFFFFF"/>
                </a:solidFill>
              </a:rPr>
              <a:t>	RBAC </a:t>
            </a:r>
            <a:br>
              <a:rPr lang="es-419" dirty="0">
                <a:solidFill>
                  <a:srgbClr val="FFFFFF"/>
                </a:solidFill>
              </a:rPr>
            </a:br>
            <a:r>
              <a:rPr lang="es-419" dirty="0">
                <a:solidFill>
                  <a:srgbClr val="FFFFFF"/>
                </a:solidFill>
              </a:rPr>
              <a:t>(Role-</a:t>
            </a:r>
            <a:r>
              <a:rPr lang="es-419" dirty="0" err="1">
                <a:solidFill>
                  <a:srgbClr val="FFFFFF"/>
                </a:solidFill>
              </a:rPr>
              <a:t>Based</a:t>
            </a:r>
            <a:r>
              <a:rPr lang="es-419" dirty="0">
                <a:solidFill>
                  <a:srgbClr val="FFFFFF"/>
                </a:solidFill>
              </a:rPr>
              <a:t> Access Control)</a:t>
            </a: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Marcador de contenido 2">
            <a:extLst>
              <a:ext uri="{FF2B5EF4-FFF2-40B4-BE49-F238E27FC236}">
                <a16:creationId xmlns:a16="http://schemas.microsoft.com/office/drawing/2014/main" id="{4472926B-213F-64BA-5689-AF9D59C67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5717572"/>
          </a:xfrm>
        </p:spPr>
        <p:txBody>
          <a:bodyPr anchor="t">
            <a:normAutofit/>
          </a:bodyPr>
          <a:lstStyle/>
          <a:p>
            <a:r>
              <a:rPr lang="es-419" sz="1800" dirty="0"/>
              <a:t>RBAC es un modelo de control de acceso en el que los permisos se asignan según el rol que tiene cada usuario dentro del sistema. </a:t>
            </a:r>
          </a:p>
          <a:p>
            <a:endParaRPr lang="es-419" sz="1800" dirty="0"/>
          </a:p>
          <a:p>
            <a:r>
              <a:rPr lang="es-419" sz="1800" dirty="0"/>
              <a:t>En lugar de gestionar permisos individuales, se definen roles (como administrador, auditor o usuario) y a cada uno se le asignan privilegios específicos.</a:t>
            </a:r>
          </a:p>
          <a:p>
            <a:endParaRPr lang="es-419" sz="1800" dirty="0"/>
          </a:p>
          <a:p>
            <a:r>
              <a:rPr lang="es-419" sz="1800" dirty="0"/>
              <a:t>De esta forma, los usuarios obtienen acceso a los recursos según sus funciones, lo que permite simplificar la gestión de permisos y mantener coherencia con la estructura organizacional.</a:t>
            </a:r>
          </a:p>
          <a:p>
            <a:pPr marL="0" indent="0">
              <a:buNone/>
            </a:pPr>
            <a:endParaRPr lang="es-419" sz="1800" dirty="0"/>
          </a:p>
          <a:p>
            <a:r>
              <a:rPr lang="es-419" sz="1800" dirty="0"/>
              <a:t>Este enfoque garantiza que cada persona acceda solo a lo necesario para cumplir su rol, reduciendo riesgos de acceso no autorizado, aunque requiere un buen diseño de roles para evitar conflictos o excesos de permisos.</a:t>
            </a:r>
          </a:p>
          <a:p>
            <a:endParaRPr lang="es-419" sz="1500" dirty="0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9706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FB0EA-E3FD-BF6A-B71A-D209D8C32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CA7A6-91AC-0672-C6D7-E87846B00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588" y="-3354"/>
            <a:ext cx="9819967" cy="1252409"/>
          </a:xfrm>
        </p:spPr>
        <p:txBody>
          <a:bodyPr/>
          <a:lstStyle/>
          <a:p>
            <a:r>
              <a:rPr lang="es-419" dirty="0"/>
              <a:t>RBAC (Role-</a:t>
            </a:r>
            <a:r>
              <a:rPr lang="es-419" dirty="0" err="1"/>
              <a:t>Based</a:t>
            </a:r>
            <a:r>
              <a:rPr lang="es-419" dirty="0"/>
              <a:t> Access Control)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170F5B0-FCE7-B8DF-73ED-C1AF00A6D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3318" y="1128902"/>
            <a:ext cx="1610032" cy="534117"/>
          </a:xfrm>
        </p:spPr>
        <p:txBody>
          <a:bodyPr/>
          <a:lstStyle/>
          <a:p>
            <a:pPr marL="0" indent="0">
              <a:buNone/>
            </a:pPr>
            <a:r>
              <a:rPr lang="es-419" b="1" dirty="0"/>
              <a:t>Ventajas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6F9D5662-52B1-1692-5A38-95667CE79965}"/>
              </a:ext>
            </a:extLst>
          </p:cNvPr>
          <p:cNvSpPr txBox="1">
            <a:spLocks/>
          </p:cNvSpPr>
          <p:nvPr/>
        </p:nvSpPr>
        <p:spPr>
          <a:xfrm>
            <a:off x="8139264" y="1128901"/>
            <a:ext cx="2363430" cy="5341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419" b="1" dirty="0"/>
              <a:t>Desventajas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36A23557-B73C-7304-7B9D-BA6F79184291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40775" y="1515517"/>
            <a:ext cx="4975120" cy="50475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419" altLang="es-419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Gestión simplificada: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Permite administrar permisos agrupando usuarios en roles, reduciendo la complejidad.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Alta escalabilidad: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Los roles pueden asignarse a muchos usuarios fácilmente, ideal para sistemas grandes.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Coherencia y control: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Garantiza permisos uniformes y alineados con la estructura organizacional, reduciendo errores.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Estructura clara y fácil de monitorear: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Los roles son transparentes, lo que facilita auditoría, revisión y control.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Facilita el cumplimiento normativo: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Asegura que el acceso se otorgue según funciones reales dentro de la organización. 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AA433BC0-93F6-4C8C-6A7E-19C439ACA8A2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833419" y="1663019"/>
            <a:ext cx="4975120" cy="40934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419" altLang="es-419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Explosión de roles: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En sistemas grandes pueden generarse demasiados roles, dificultando su gestión y control.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Poca flexibilidad: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Es un modelo estático, no se adapta bien a condiciones dinámicas como ubicación, tiempo o contexto.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Nivel de detalle limitado: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No permite un control muy detallado, lo que puede requerir excepciones o soluciones adicionales.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Limitado para alta seguridad: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No es ideal en escenarios donde se requieren reglas complejas o accesos muy específicos. </a:t>
            </a:r>
          </a:p>
        </p:txBody>
      </p:sp>
    </p:spTree>
    <p:extLst>
      <p:ext uri="{BB962C8B-B14F-4D97-AF65-F5344CB8AC3E}">
        <p14:creationId xmlns:p14="http://schemas.microsoft.com/office/powerpoint/2010/main" val="21104911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0546" y="1011045"/>
            <a:ext cx="4369859" cy="4369859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0A96D59-CD54-4677-9217-9F66DA23B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6826" y="1112969"/>
            <a:ext cx="3937298" cy="4166010"/>
          </a:xfrm>
        </p:spPr>
        <p:txBody>
          <a:bodyPr>
            <a:normAutofit/>
          </a:bodyPr>
          <a:lstStyle/>
          <a:p>
            <a:r>
              <a:rPr lang="es-419" dirty="0">
                <a:solidFill>
                  <a:srgbClr val="FFFFFF"/>
                </a:solidFill>
              </a:rPr>
              <a:t>	ABAC (</a:t>
            </a:r>
            <a:r>
              <a:rPr lang="es-419" dirty="0" err="1">
                <a:solidFill>
                  <a:srgbClr val="FFFFFF"/>
                </a:solidFill>
              </a:rPr>
              <a:t>Attribute-Based</a:t>
            </a:r>
            <a:r>
              <a:rPr lang="es-419" dirty="0">
                <a:solidFill>
                  <a:srgbClr val="FFFFFF"/>
                </a:solidFill>
              </a:rPr>
              <a:t> Access Control)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998D422-1CFA-215D-6CB3-3BF81292F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820880"/>
            <a:ext cx="5257799" cy="5648746"/>
          </a:xfrm>
        </p:spPr>
        <p:txBody>
          <a:bodyPr anchor="t">
            <a:normAutofit/>
          </a:bodyPr>
          <a:lstStyle/>
          <a:p>
            <a:r>
              <a:rPr lang="es-419" sz="1800" dirty="0"/>
              <a:t>ABAC es un modelo de control de acceso que toma decisiones basándose en atributos del usuario, del recurso y del contexto, en lugar de depender únicamente de roles</a:t>
            </a:r>
          </a:p>
          <a:p>
            <a:endParaRPr lang="es-419" sz="1800" dirty="0"/>
          </a:p>
          <a:p>
            <a:r>
              <a:rPr lang="es-419" sz="1800" dirty="0"/>
              <a:t>Estos atributos pueden incluir información como el cargo, el departamento, la ubicación, la hora o la acción que se desea realizar.</a:t>
            </a:r>
          </a:p>
          <a:p>
            <a:endParaRPr lang="es-419" sz="1800" dirty="0"/>
          </a:p>
          <a:p>
            <a:r>
              <a:rPr lang="es-419" sz="1800" dirty="0"/>
              <a:t>El sistema evalúa reglas y políticas que combinan estos atributos para determinar si se permite o no el acceso, lo que permite un control mucho más preciso y detallado. Gracias a esto, ABAC es capaz de adaptarse a escenarios complejos y dinámicos, aunque su implementación y gestión pueden ser más exigentes debido a la cantidad de condiciones que se deben definir y evaluar.</a:t>
            </a:r>
          </a:p>
          <a:p>
            <a:endParaRPr lang="es-419" sz="150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418308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33974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CAE99-18FA-696F-E93F-7070D9C93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69B0FC-2C8C-C73F-0879-1BC37576F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1" y="-49161"/>
            <a:ext cx="10515600" cy="1325563"/>
          </a:xfrm>
        </p:spPr>
        <p:txBody>
          <a:bodyPr/>
          <a:lstStyle/>
          <a:p>
            <a:r>
              <a:rPr lang="es-419" dirty="0"/>
              <a:t>ABAC (</a:t>
            </a:r>
            <a:r>
              <a:rPr lang="es-419" dirty="0" err="1"/>
              <a:t>Attribute-Based</a:t>
            </a:r>
            <a:r>
              <a:rPr lang="es-419" dirty="0"/>
              <a:t> Access Control)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B26900-9344-F84F-41B2-B0DDCAC4C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2428" y="1159171"/>
            <a:ext cx="1610032" cy="534117"/>
          </a:xfrm>
        </p:spPr>
        <p:txBody>
          <a:bodyPr/>
          <a:lstStyle/>
          <a:p>
            <a:pPr marL="0" indent="0">
              <a:buNone/>
            </a:pPr>
            <a:r>
              <a:rPr lang="es-419" b="1" dirty="0"/>
              <a:t>Ventajas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34D76B7D-2ED5-97E2-8EE5-A30ECFEEA12D}"/>
              </a:ext>
            </a:extLst>
          </p:cNvPr>
          <p:cNvSpPr txBox="1">
            <a:spLocks/>
          </p:cNvSpPr>
          <p:nvPr/>
        </p:nvSpPr>
        <p:spPr>
          <a:xfrm>
            <a:off x="8088261" y="1159171"/>
            <a:ext cx="2363430" cy="5341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419" b="1" dirty="0"/>
              <a:t>Desventajas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A5EF98-D2D1-1B1B-5F13-0BE34A0EAA6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521110" y="1971439"/>
            <a:ext cx="5250426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s-419" sz="1600" b="1" dirty="0"/>
              <a:t>Alto nivel de detalle en el control:</a:t>
            </a:r>
            <a:r>
              <a:rPr lang="es-419" sz="1600" dirty="0"/>
              <a:t> Permite definir accesos muy específicos basados en múltiples factores (usuario, recurso, contexto).</a:t>
            </a:r>
          </a:p>
          <a:p>
            <a:endParaRPr lang="es-419" sz="1600" dirty="0"/>
          </a:p>
          <a:p>
            <a:r>
              <a:rPr lang="es-419" sz="1600" dirty="0"/>
              <a:t> </a:t>
            </a:r>
            <a:r>
              <a:rPr lang="es-419" sz="1600" b="1" dirty="0"/>
              <a:t>Alta flexibilidad:</a:t>
            </a:r>
            <a:r>
              <a:rPr lang="es-419" sz="1600" dirty="0"/>
              <a:t> Se adapta dinámicamente a condiciones como ubicación, hora o estado del usuario. </a:t>
            </a:r>
          </a:p>
          <a:p>
            <a:endParaRPr lang="es-419" sz="1600" dirty="0"/>
          </a:p>
          <a:p>
            <a:r>
              <a:rPr lang="es-419" sz="1600" b="1" dirty="0"/>
              <a:t>Menor dependencia de roles:</a:t>
            </a:r>
            <a:r>
              <a:rPr lang="es-419" sz="1600" dirty="0"/>
              <a:t> Reduce la necesidad de crear y gestionar muchos roles, simplificando la administración. </a:t>
            </a:r>
          </a:p>
          <a:p>
            <a:endParaRPr lang="es-419" sz="1600" dirty="0"/>
          </a:p>
          <a:p>
            <a:r>
              <a:rPr lang="es-419" sz="1600" dirty="0"/>
              <a:t> </a:t>
            </a:r>
            <a:r>
              <a:rPr lang="es-419" sz="1600" b="1" dirty="0"/>
              <a:t>Mayor nivel de seguridad:</a:t>
            </a:r>
            <a:r>
              <a:rPr lang="es-419" sz="1600" dirty="0"/>
              <a:t> Permite tomar decisiones más precisas, reduciendo accesos innecesarios. </a:t>
            </a:r>
          </a:p>
          <a:p>
            <a:endParaRPr lang="es-419" sz="1600" dirty="0"/>
          </a:p>
          <a:p>
            <a:r>
              <a:rPr lang="es-419" sz="1600" dirty="0"/>
              <a:t> </a:t>
            </a:r>
            <a:r>
              <a:rPr lang="es-419" sz="1600" b="1" dirty="0"/>
              <a:t>Facilita cumplimiento y revisión:</a:t>
            </a:r>
            <a:r>
              <a:rPr lang="es-419" sz="1600" dirty="0"/>
              <a:t> Las reglas basadas en atributos son claras y permiten auditar accesos fácilmente.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8A5F53-D4C6-D45E-D5DB-A93C1194CCD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457335" y="1852417"/>
            <a:ext cx="5498690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419" altLang="es-419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Alta complejidad de implementación: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Diseñar y mantener las reglas basadas en atributos requiere experiencia y supervisión constante.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Definición de atributos demandante: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Identificar y configurar correctamente todos los atributos necesarios puede tomar bastante tiempo.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Gestión de políticas complejas: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Las reglas pueden volverse difíciles de administrar y mantener a medida que crece el sistema.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Impacto en el rendimiento: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Evaluar múltiples atributos y condiciones puede afectar el tiempo de respuesta, especialmente en sistemas grandes. </a:t>
            </a:r>
          </a:p>
        </p:txBody>
      </p:sp>
    </p:spTree>
    <p:extLst>
      <p:ext uri="{BB962C8B-B14F-4D97-AF65-F5344CB8AC3E}">
        <p14:creationId xmlns:p14="http://schemas.microsoft.com/office/powerpoint/2010/main" val="2597437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855FA5-D2A1-C571-8456-F401439EB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3" y="1396686"/>
            <a:ext cx="3686061" cy="4064628"/>
          </a:xfrm>
        </p:spPr>
        <p:txBody>
          <a:bodyPr>
            <a:normAutofit/>
          </a:bodyPr>
          <a:lstStyle/>
          <a:p>
            <a:r>
              <a:rPr lang="es-419" dirty="0">
                <a:solidFill>
                  <a:srgbClr val="FFFFFF"/>
                </a:solidFill>
              </a:rPr>
              <a:t>	PBAC </a:t>
            </a:r>
            <a:br>
              <a:rPr lang="es-419" dirty="0">
                <a:solidFill>
                  <a:srgbClr val="FFFFFF"/>
                </a:solidFill>
              </a:rPr>
            </a:br>
            <a:r>
              <a:rPr lang="es-419" dirty="0">
                <a:solidFill>
                  <a:srgbClr val="FFFFFF"/>
                </a:solidFill>
              </a:rPr>
              <a:t>(</a:t>
            </a:r>
            <a:r>
              <a:rPr lang="es-419" dirty="0" err="1">
                <a:solidFill>
                  <a:srgbClr val="FFFFFF"/>
                </a:solidFill>
              </a:rPr>
              <a:t>Policy-Based</a:t>
            </a:r>
            <a:r>
              <a:rPr lang="es-419" dirty="0">
                <a:solidFill>
                  <a:srgbClr val="FFFFFF"/>
                </a:solidFill>
              </a:rPr>
              <a:t> Access Control)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44324B-8218-66E3-57D9-2BE2266A2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2" y="1396686"/>
            <a:ext cx="5759963" cy="5781366"/>
          </a:xfrm>
        </p:spPr>
        <p:txBody>
          <a:bodyPr>
            <a:normAutofit/>
          </a:bodyPr>
          <a:lstStyle/>
          <a:p>
            <a:r>
              <a:rPr lang="es-419" sz="1800" dirty="0"/>
              <a:t>PBAC es un modelo de control de acceso que gestiona los permisos a partir de políticas centralizadas, en lugar de depender únicamente de roles o atributos. Estas políticas son reglas definidas por la organización que indican qué acceso se permite, en qué condiciones y cómo debe aplicarse.</a:t>
            </a:r>
          </a:p>
          <a:p>
            <a:endParaRPr lang="es-419" sz="1800" dirty="0"/>
          </a:p>
          <a:p>
            <a:r>
              <a:rPr lang="es-419" sz="1800" dirty="0"/>
              <a:t>A diferencia de modelos como RBAC o ABAC, PBAC utiliza un motor de decisiones que evalúa en tiempo real distintos factores (como roles, atributos, contexto o cumplimiento normativo) para otorgar o revocar accesos de forma automática y dinámica.</a:t>
            </a:r>
          </a:p>
          <a:p>
            <a:endParaRPr lang="es-419" sz="1800" dirty="0"/>
          </a:p>
          <a:p>
            <a:r>
              <a:rPr lang="es-419" sz="1800" dirty="0"/>
              <a:t>Esto lo convierte en un enfoque flexible, escalable y adaptable, ideal para entornos complejos, ya que permite ajustar fácilmente los permisos cuando cambian las políticas del negocio, sin necesidad de modificar directamente el código o asignaciones manuales.</a:t>
            </a:r>
          </a:p>
        </p:txBody>
      </p:sp>
    </p:spTree>
    <p:extLst>
      <p:ext uri="{BB962C8B-B14F-4D97-AF65-F5344CB8AC3E}">
        <p14:creationId xmlns:p14="http://schemas.microsoft.com/office/powerpoint/2010/main" val="2027603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20788-08CD-DA47-4FA4-CF61E4958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691" y="-49161"/>
            <a:ext cx="10515600" cy="1325563"/>
          </a:xfrm>
        </p:spPr>
        <p:txBody>
          <a:bodyPr/>
          <a:lstStyle/>
          <a:p>
            <a:r>
              <a:rPr lang="es-419" dirty="0"/>
              <a:t>PBAC (</a:t>
            </a:r>
            <a:r>
              <a:rPr lang="es-419" dirty="0" err="1"/>
              <a:t>Policy-Based</a:t>
            </a:r>
            <a:r>
              <a:rPr lang="es-419" dirty="0"/>
              <a:t> Access Control)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809109-AB15-38D5-4986-65622FE1F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49337" y="1159171"/>
            <a:ext cx="1610032" cy="534117"/>
          </a:xfrm>
        </p:spPr>
        <p:txBody>
          <a:bodyPr/>
          <a:lstStyle/>
          <a:p>
            <a:pPr marL="0" indent="0">
              <a:buNone/>
            </a:pPr>
            <a:r>
              <a:rPr lang="es-419" b="1" dirty="0"/>
              <a:t>Ventajas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57F0EB9-6027-E027-0155-23771BF59D27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32619" y="1834419"/>
            <a:ext cx="5191433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Alta flexibilidad: </a:t>
            </a: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Permite definir accesos usando múltiples factores (roles, atributos, contexto), adaptándose a diferentes escenarios.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419" altLang="es-419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Gestión centralizada: </a:t>
            </a: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Las políticas se administran en un solo lugar, facilitando cambios rápidos y coherentes.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419" altLang="es-419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Adaptabilidad en tiempo real: </a:t>
            </a: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Puede ajustar los permisos dinámicamente según nuevas políticas o condiciones del sistema.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419" altLang="es-419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Seguridad a nivel de detalle: </a:t>
            </a: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Ofrece un control muy preciso sobre quién accede a qué y bajo qué condiciones.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419" altLang="es-419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Facilita cumplimiento y auditoría: </a:t>
            </a: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Al basarse en políticas claras, es más fácil cumplir normas y revisar accesos. </a:t>
            </a:r>
          </a:p>
        </p:txBody>
      </p:sp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C1E5B9A2-13C7-1381-8587-43765FA84482}"/>
              </a:ext>
            </a:extLst>
          </p:cNvPr>
          <p:cNvSpPr txBox="1">
            <a:spLocks/>
          </p:cNvSpPr>
          <p:nvPr/>
        </p:nvSpPr>
        <p:spPr>
          <a:xfrm>
            <a:off x="8320239" y="1159171"/>
            <a:ext cx="2363430" cy="5341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419" b="1" dirty="0"/>
              <a:t>Desventajas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CAACD2DE-5629-695B-87DD-6E06ADE6BA6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7038051" y="1514721"/>
            <a:ext cx="4927806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419" altLang="es-419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Alta complejidad: </a:t>
            </a: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Diseñar y mantener políticas bien definidas puede ser difícil y requiere experiencia técnica.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419" altLang="es-419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Alto consumo de recursos: </a:t>
            </a: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Necesita motores de políticas avanzados y supervisión constante, especialmente en sistemas grandes.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419" altLang="es-419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Impacto en el rendimiento: </a:t>
            </a: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Evaluar múltiples condiciones por cada acceso puede generar mayor tiempo de respuesta.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s-419" altLang="es-419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Tiempo de implementación elevado: </a:t>
            </a:r>
            <a:r>
              <a:rPr kumimoji="0" lang="es-419" altLang="es-419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Definir políticas que sean generales pero precisas puede tomar bastante tiempo. </a:t>
            </a:r>
          </a:p>
        </p:txBody>
      </p:sp>
    </p:spTree>
    <p:extLst>
      <p:ext uri="{BB962C8B-B14F-4D97-AF65-F5344CB8AC3E}">
        <p14:creationId xmlns:p14="http://schemas.microsoft.com/office/powerpoint/2010/main" val="1040873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Diagrama de flujo: proceso alternativo 15">
            <a:extLst>
              <a:ext uri="{FF2B5EF4-FFF2-40B4-BE49-F238E27FC236}">
                <a16:creationId xmlns:a16="http://schemas.microsoft.com/office/drawing/2014/main" id="{444B316D-EFDD-B199-1702-5E5A9C966496}"/>
              </a:ext>
            </a:extLst>
          </p:cNvPr>
          <p:cNvSpPr/>
          <p:nvPr/>
        </p:nvSpPr>
        <p:spPr>
          <a:xfrm>
            <a:off x="7910667" y="2290916"/>
            <a:ext cx="3947035" cy="3860438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5" name="Diagrama de flujo: proceso alternativo 14">
            <a:extLst>
              <a:ext uri="{FF2B5EF4-FFF2-40B4-BE49-F238E27FC236}">
                <a16:creationId xmlns:a16="http://schemas.microsoft.com/office/drawing/2014/main" id="{23A78E9E-A581-09B3-51C0-AA1CAFC5717D}"/>
              </a:ext>
            </a:extLst>
          </p:cNvPr>
          <p:cNvSpPr/>
          <p:nvPr/>
        </p:nvSpPr>
        <p:spPr>
          <a:xfrm>
            <a:off x="4047238" y="1429971"/>
            <a:ext cx="3725281" cy="3486158"/>
          </a:xfrm>
          <a:prstGeom prst="flowChartAlternateProcess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14" name="Diagrama de flujo: proceso alternativo 13">
            <a:extLst>
              <a:ext uri="{FF2B5EF4-FFF2-40B4-BE49-F238E27FC236}">
                <a16:creationId xmlns:a16="http://schemas.microsoft.com/office/drawing/2014/main" id="{7AD862E8-F329-BA8A-237A-672F7677CB05}"/>
              </a:ext>
            </a:extLst>
          </p:cNvPr>
          <p:cNvSpPr/>
          <p:nvPr/>
        </p:nvSpPr>
        <p:spPr>
          <a:xfrm>
            <a:off x="155305" y="511277"/>
            <a:ext cx="3684434" cy="3559277"/>
          </a:xfrm>
          <a:prstGeom prst="flowChartAlternateProcess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A3076C-0D71-5F45-6E4D-3E9E9DD1D894}"/>
              </a:ext>
            </a:extLst>
          </p:cNvPr>
          <p:cNvSpPr txBox="1"/>
          <p:nvPr/>
        </p:nvSpPr>
        <p:spPr>
          <a:xfrm>
            <a:off x="1474743" y="648090"/>
            <a:ext cx="771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b="1" dirty="0"/>
              <a:t>RBAC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F0626DB-336C-010E-1F23-244C82470ED0}"/>
              </a:ext>
            </a:extLst>
          </p:cNvPr>
          <p:cNvSpPr txBox="1"/>
          <p:nvPr/>
        </p:nvSpPr>
        <p:spPr>
          <a:xfrm>
            <a:off x="5327585" y="1699258"/>
            <a:ext cx="768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b="1" dirty="0"/>
              <a:t>ABAC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D73DBB4-BB4F-2EAE-7321-60F15ED52E70}"/>
              </a:ext>
            </a:extLst>
          </p:cNvPr>
          <p:cNvSpPr txBox="1"/>
          <p:nvPr/>
        </p:nvSpPr>
        <p:spPr>
          <a:xfrm>
            <a:off x="9551186" y="2407982"/>
            <a:ext cx="765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419" b="1" dirty="0"/>
              <a:t>PBAC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AE55406-CEDD-727B-2183-EE705BCC3F0E}"/>
              </a:ext>
            </a:extLst>
          </p:cNvPr>
          <p:cNvSpPr txBox="1"/>
          <p:nvPr/>
        </p:nvSpPr>
        <p:spPr>
          <a:xfrm>
            <a:off x="236999" y="979807"/>
            <a:ext cx="3684434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/>
              <a:t>Es ideal para organizaciones con roles estables y bien definidos, como las agencias gubernamentales, donde las funciones laborales están claramente delimitadas y los requisitos de acceso rara vez cambian. </a:t>
            </a:r>
          </a:p>
          <a:p>
            <a:r>
              <a:rPr lang="es-419" sz="1600" dirty="0"/>
              <a:t>También funciona bien para empresas que buscan una forma sencilla y escalable de gestionar permisos para una gran base de usuarios, como en los sectores de la salud o la educación.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D879DB5-5C25-F272-7973-06E06AB16D6F}"/>
              </a:ext>
            </a:extLst>
          </p:cNvPr>
          <p:cNvSpPr txBox="1"/>
          <p:nvPr/>
        </p:nvSpPr>
        <p:spPr>
          <a:xfrm>
            <a:off x="4088086" y="2068590"/>
            <a:ext cx="368443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/>
              <a:t>Es adecuado para entornos dinámicos que requieren decisiones de acceso contextuales, como los servicios financieros o los entornos en la nube, donde los atributos del usuario (por ejemplo, cargo, ubicación) y los factores ambientales (por ejemplo, hora del día, nivel de seguridad) deben tenerse en cuenta en tiempo real para conceder o restringir el acceso.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762D04D2-FB5B-27D9-E367-512585A4A0B9}"/>
              </a:ext>
            </a:extLst>
          </p:cNvPr>
          <p:cNvSpPr txBox="1"/>
          <p:nvPr/>
        </p:nvSpPr>
        <p:spPr>
          <a:xfrm>
            <a:off x="8091574" y="2777314"/>
            <a:ext cx="368443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1600" dirty="0"/>
              <a:t>Resulta beneficioso en sectores altamente regulados o en grandes empresas con políticas de seguridad complejas que requieren flexibilidad en la aplicación de reglas basadas tanto en roles como en atributos. </a:t>
            </a:r>
          </a:p>
          <a:p>
            <a:r>
              <a:rPr lang="es-419" sz="1600" dirty="0"/>
              <a:t>Por ejemplo, es eficaz en corporaciones multinacionales donde el cumplimiento de diferentes requisitos normativos y políticas de seguridad internas exige un enfoque centrado en políticas que pueda gestionar una amplia gama de variables.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9EAB07E-2531-E16A-0E8C-7E5507135945}"/>
              </a:ext>
            </a:extLst>
          </p:cNvPr>
          <p:cNvSpPr txBox="1"/>
          <p:nvPr/>
        </p:nvSpPr>
        <p:spPr>
          <a:xfrm>
            <a:off x="7157251" y="355703"/>
            <a:ext cx="47004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sz="3200" b="1" dirty="0"/>
              <a:t> RBAC vs ABAC vs PBAC</a:t>
            </a:r>
          </a:p>
        </p:txBody>
      </p:sp>
    </p:spTree>
    <p:extLst>
      <p:ext uri="{BB962C8B-B14F-4D97-AF65-F5344CB8AC3E}">
        <p14:creationId xmlns:p14="http://schemas.microsoft.com/office/powerpoint/2010/main" val="526750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242D1-F478-270F-15BC-15CB6D409B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Otros tipos de control de acceso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769D2FF-E191-6B81-2D08-2948CCA58944}"/>
              </a:ext>
            </a:extLst>
          </p:cNvPr>
          <p:cNvSpPr txBox="1"/>
          <p:nvPr/>
        </p:nvSpPr>
        <p:spPr>
          <a:xfrm>
            <a:off x="582561" y="1679442"/>
            <a:ext cx="47268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/>
              <a:t>Control de acceso discrecional (DAC)</a:t>
            </a:r>
          </a:p>
          <a:p>
            <a:r>
              <a:rPr lang="es-419" sz="1600" dirty="0"/>
              <a:t>En este método de control de acceso, los permisos de acceso los determina el propietario del recurso, quien puede otorgar o restringir el acceso a otros a su discreción.</a:t>
            </a:r>
          </a:p>
          <a:p>
            <a:endParaRPr lang="es-419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369416E-1581-7AC5-9065-68972CA6E62E}"/>
              </a:ext>
            </a:extLst>
          </p:cNvPr>
          <p:cNvSpPr txBox="1"/>
          <p:nvPr/>
        </p:nvSpPr>
        <p:spPr>
          <a:xfrm>
            <a:off x="481780" y="4969380"/>
            <a:ext cx="453267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/>
              <a:t>Control de acceso obligatorio (MAC)</a:t>
            </a:r>
          </a:p>
          <a:p>
            <a:r>
              <a:rPr lang="es-419" sz="1600" dirty="0"/>
              <a:t>El acceso se concede o se deniega en función de la sensibilidad de la información y de los niveles de autorización de seguridad de los usuarios, sin que intervenga ningún usuario individualmente.</a:t>
            </a:r>
          </a:p>
          <a:p>
            <a:endParaRPr lang="es-419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5168FDD-A62B-EE1C-3A4B-A583BB477C89}"/>
              </a:ext>
            </a:extLst>
          </p:cNvPr>
          <p:cNvSpPr txBox="1"/>
          <p:nvPr/>
        </p:nvSpPr>
        <p:spPr>
          <a:xfrm>
            <a:off x="4101281" y="3231068"/>
            <a:ext cx="430161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/>
              <a:t>Control de acceso basado en la identidad (IBAC)</a:t>
            </a:r>
          </a:p>
          <a:p>
            <a:r>
              <a:rPr lang="es-419" sz="1600" dirty="0"/>
              <a:t>IBAC concede el acceso en función de la identidad del usuario y sus credenciales individuales.</a:t>
            </a:r>
          </a:p>
          <a:p>
            <a:endParaRPr lang="es-419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8484179-2065-162E-41A4-343E181A6D0A}"/>
              </a:ext>
            </a:extLst>
          </p:cNvPr>
          <p:cNvSpPr txBox="1"/>
          <p:nvPr/>
        </p:nvSpPr>
        <p:spPr>
          <a:xfrm>
            <a:off x="7710948" y="1699567"/>
            <a:ext cx="4090220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/>
              <a:t>Control de acceso basado en el tiempo</a:t>
            </a:r>
          </a:p>
          <a:p>
            <a:r>
              <a:rPr lang="es-419" sz="1600" dirty="0"/>
              <a:t>Los permisos se asignan en función de plazos específicos, lo que permite a los usuarios acceder a los recursos únicamente durante períodos de tiempo definidos.</a:t>
            </a:r>
          </a:p>
          <a:p>
            <a:endParaRPr lang="es-419" sz="1600" dirty="0"/>
          </a:p>
          <a:p>
            <a:endParaRPr lang="es-419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4D2B852-0863-B4BF-2E8A-D874FBC240B0}"/>
              </a:ext>
            </a:extLst>
          </p:cNvPr>
          <p:cNvSpPr txBox="1"/>
          <p:nvPr/>
        </p:nvSpPr>
        <p:spPr>
          <a:xfrm>
            <a:off x="7489723" y="4830881"/>
            <a:ext cx="4532671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b="1" dirty="0"/>
              <a:t>Control de acceso adaptativo al riesgo (</a:t>
            </a:r>
            <a:r>
              <a:rPr lang="es-419" b="1" dirty="0" err="1"/>
              <a:t>RAdAC</a:t>
            </a:r>
            <a:r>
              <a:rPr lang="es-419" b="1" dirty="0"/>
              <a:t>)</a:t>
            </a:r>
          </a:p>
          <a:p>
            <a:r>
              <a:rPr lang="es-419" sz="1600" dirty="0"/>
              <a:t>El acceso se ajusta dinámicamente en función del nivel de riesgo actual, evaluando factores como el comportamiento del usuario, las condiciones de la red y las posibles amenazas.</a:t>
            </a:r>
          </a:p>
          <a:p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723089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iagrama de flujo: proceso alternativo 9">
            <a:extLst>
              <a:ext uri="{FF2B5EF4-FFF2-40B4-BE49-F238E27FC236}">
                <a16:creationId xmlns:a16="http://schemas.microsoft.com/office/drawing/2014/main" id="{E74CA8B9-0F50-71C5-C931-BAA9C1C267E9}"/>
              </a:ext>
            </a:extLst>
          </p:cNvPr>
          <p:cNvSpPr/>
          <p:nvPr/>
        </p:nvSpPr>
        <p:spPr>
          <a:xfrm>
            <a:off x="7809270" y="3997457"/>
            <a:ext cx="3259394" cy="2054296"/>
          </a:xfrm>
          <a:prstGeom prst="flowChartAlternate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9" name="Diagrama de flujo: proceso alternativo 8">
            <a:extLst>
              <a:ext uri="{FF2B5EF4-FFF2-40B4-BE49-F238E27FC236}">
                <a16:creationId xmlns:a16="http://schemas.microsoft.com/office/drawing/2014/main" id="{59B91938-FA5B-9180-2594-2B1AC30569F2}"/>
              </a:ext>
            </a:extLst>
          </p:cNvPr>
          <p:cNvSpPr/>
          <p:nvPr/>
        </p:nvSpPr>
        <p:spPr>
          <a:xfrm>
            <a:off x="7809271" y="1332851"/>
            <a:ext cx="3259393" cy="2054296"/>
          </a:xfrm>
          <a:prstGeom prst="flowChartAlternateProcess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8" name="Diagrama de flujo: proceso alternativo 7">
            <a:extLst>
              <a:ext uri="{FF2B5EF4-FFF2-40B4-BE49-F238E27FC236}">
                <a16:creationId xmlns:a16="http://schemas.microsoft.com/office/drawing/2014/main" id="{2BFB819F-6B23-3CF9-8AE5-A4D34067D714}"/>
              </a:ext>
            </a:extLst>
          </p:cNvPr>
          <p:cNvSpPr/>
          <p:nvPr/>
        </p:nvSpPr>
        <p:spPr>
          <a:xfrm>
            <a:off x="639097" y="1139785"/>
            <a:ext cx="5732206" cy="5053781"/>
          </a:xfrm>
          <a:prstGeom prst="flowChartAlternateProcess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B3318FD-7778-27E1-FCBC-FA256C9BF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3064" y="-44243"/>
            <a:ext cx="10515600" cy="1325563"/>
          </a:xfrm>
        </p:spPr>
        <p:txBody>
          <a:bodyPr/>
          <a:lstStyle/>
          <a:p>
            <a:r>
              <a:rPr lang="es-419" dirty="0"/>
              <a:t>Para el contexto de este reto: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6EB577-9392-096F-16F4-BC37A7AA87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935" y="1329355"/>
            <a:ext cx="5257800" cy="494787"/>
          </a:xfrm>
        </p:spPr>
        <p:txBody>
          <a:bodyPr/>
          <a:lstStyle/>
          <a:p>
            <a:pPr marL="0" indent="0">
              <a:buNone/>
            </a:pPr>
            <a:r>
              <a:rPr lang="es-419" sz="2400" b="1" dirty="0"/>
              <a:t>El modelo seleccionado es RBAC</a:t>
            </a:r>
          </a:p>
          <a:p>
            <a:pPr marL="0" indent="0">
              <a:buNone/>
            </a:pPr>
            <a:endParaRPr lang="es-419" dirty="0"/>
          </a:p>
          <a:p>
            <a:pPr marL="0" indent="0">
              <a:buNone/>
            </a:pPr>
            <a:endParaRPr lang="es-419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7352760-B98E-278A-5E09-4B07649A250C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378975" y="1457544"/>
            <a:ext cx="4274573" cy="45550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419" altLang="es-419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El reto define roles específicos (jugador, auditor y administrador), lo que encaja perfectamente con RBAC.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Permite desarrollar la solución de forma rápida y organizada sin añadir complejidad innecesaria.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No se requieren reglas dinámicas complejas ni múltiples condiciones como en ABAC o PBAC.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Fácil integración con JWT: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Los roles pueden incluirse directamente en el token, facilitando la autenticación y autorización.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s-419" altLang="es-419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</a:t>
            </a:r>
            <a:r>
              <a:rPr kumimoji="0" lang="es-419" altLang="es-419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Mantenibilidad y claridad:</a:t>
            </a:r>
            <a:r>
              <a:rPr kumimoji="0" lang="es-419" altLang="es-419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Arial" panose="020B0604020202020204" pitchFamily="34" charset="0"/>
              </a:rPr>
              <a:t> El sistema será más fácil de entender, escalar y sustentar.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C888F57-937A-C549-3329-08E0831AC57A}"/>
              </a:ext>
            </a:extLst>
          </p:cNvPr>
          <p:cNvSpPr txBox="1"/>
          <p:nvPr/>
        </p:nvSpPr>
        <p:spPr>
          <a:xfrm>
            <a:off x="7912509" y="1412919"/>
            <a:ext cx="2974257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	</a:t>
            </a:r>
            <a:r>
              <a:rPr lang="es-419" sz="2000" b="1" dirty="0"/>
              <a:t>ABAC</a:t>
            </a:r>
          </a:p>
          <a:p>
            <a:r>
              <a:rPr lang="es-419" sz="1600" dirty="0"/>
              <a:t>Complejidad innecesaria para 3 roles simples</a:t>
            </a:r>
          </a:p>
          <a:p>
            <a:endParaRPr lang="es-419" sz="1600" dirty="0"/>
          </a:p>
          <a:p>
            <a:r>
              <a:rPr lang="es-419" sz="1600" dirty="0"/>
              <a:t>No se necesitan atributos como hora, ubicación, etc.</a:t>
            </a:r>
          </a:p>
          <a:p>
            <a:endParaRPr lang="es-419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046BE05-2BFC-05C9-8810-90AE83F1A907}"/>
              </a:ext>
            </a:extLst>
          </p:cNvPr>
          <p:cNvSpPr txBox="1"/>
          <p:nvPr/>
        </p:nvSpPr>
        <p:spPr>
          <a:xfrm>
            <a:off x="7912510" y="4161588"/>
            <a:ext cx="315615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419" dirty="0"/>
              <a:t>	</a:t>
            </a:r>
            <a:r>
              <a:rPr lang="es-419" sz="2000" b="1" dirty="0"/>
              <a:t>PBAC</a:t>
            </a:r>
          </a:p>
          <a:p>
            <a:r>
              <a:rPr lang="es-419" sz="1600" dirty="0"/>
              <a:t>Pensado para sistemas grandes y empresariales</a:t>
            </a:r>
          </a:p>
          <a:p>
            <a:endParaRPr lang="es-419" sz="1600" dirty="0"/>
          </a:p>
          <a:p>
            <a:r>
              <a:rPr lang="es-419" sz="1600" dirty="0"/>
              <a:t>Sobrecarga no justificada sin políticas complejas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113145955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205</TotalTime>
  <Words>1481</Words>
  <Application>Microsoft Office PowerPoint</Application>
  <PresentationFormat>Panorámica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Tema de Office</vt:lpstr>
      <vt:lpstr>Métodos de control de acceso </vt:lpstr>
      <vt:lpstr> RBAC  (Role-Based Access Control)</vt:lpstr>
      <vt:lpstr>RBAC (Role-Based Access Control)</vt:lpstr>
      <vt:lpstr> ABAC (Attribute-Based Access Control)</vt:lpstr>
      <vt:lpstr>ABAC (Attribute-Based Access Control)</vt:lpstr>
      <vt:lpstr> PBAC  (Policy-Based Access Control)</vt:lpstr>
      <vt:lpstr>PBAC (Policy-Based Access Control)</vt:lpstr>
      <vt:lpstr>Presentación de PowerPoint</vt:lpstr>
      <vt:lpstr>Otros tipos de control de acceso</vt:lpstr>
      <vt:lpstr>Para el contexto de este reto: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Mateo Cardona</dc:creator>
  <cp:lastModifiedBy>Mateo Cardona</cp:lastModifiedBy>
  <cp:revision>2</cp:revision>
  <dcterms:created xsi:type="dcterms:W3CDTF">2026-03-21T02:21:22Z</dcterms:created>
  <dcterms:modified xsi:type="dcterms:W3CDTF">2026-03-26T04:27:25Z</dcterms:modified>
</cp:coreProperties>
</file>